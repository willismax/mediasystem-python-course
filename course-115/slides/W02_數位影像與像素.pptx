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E">
    <p:bg>
      <p:bgPr>
        <a:solidFill>
          <a:srgbClr val="1115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5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1462980"/>
            <a:ext cx="32653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4D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W02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3401467" y="1462980"/>
            <a:ext cx="518109" cy="171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AAB3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影像模組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31750" y="1863030"/>
            <a:ext cx="3547220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spcAft>
                <a:spcPts val="1000"/>
              </a:spcAft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數位影像與像素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31750" y="2439442"/>
            <a:ext cx="888950" cy="38100"/>
          </a:xfrm>
          <a:prstGeom prst="rect">
            <a:avLst/>
          </a:prstGeom>
          <a:solidFill>
            <a:srgbClr val="24D7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31750" y="2642592"/>
            <a:ext cx="3547220" cy="2942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18"/>
              </a:lnSpc>
              <a:buNone/>
            </a:pPr>
            <a:r>
              <a:rPr lang="en-US" sz="1900" dirty="0">
                <a:solidFill>
                  <a:srgbClr val="DFE5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一張圖片在電腦裡是什麼？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431750" y="3139976"/>
            <a:ext cx="3547220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spcBef>
                <a:spcPts val="1600"/>
              </a:spcBef>
              <a:buNone/>
            </a:pPr>
            <a:r>
              <a:rPr lang="en-US" sz="1300" dirty="0">
                <a:solidFill>
                  <a:srgbClr val="AAB3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從原理、實驗到可說明的作品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226868" y="603200"/>
            <a:ext cx="4802684" cy="3619500"/>
          </a:xfrm>
          <a:prstGeom prst="roundRect">
            <a:avLst>
              <a:gd name="adj" fmla="val 4561"/>
            </a:avLst>
          </a:prstGeom>
          <a:noFill/>
          <a:ln w="9525">
            <a:solidFill>
              <a:srgbClr val="30394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31750" y="4816525"/>
            <a:ext cx="83158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973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多媒體系統 115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7889379" y="4816525"/>
            <a:ext cx="83932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973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W02 · 影像模組</a:t>
            </a:r>
            <a:endParaRPr lang="en-US" sz="800" dirty="0"/>
          </a:p>
        </p:txBody>
      </p:sp>
      <p:pic>
        <p:nvPicPr>
          <p:cNvPr id="11" name="Image 0" descr="G:\我的雲端硬碟\AI\MS整合\course-115\assets\diagrams\pixel-rg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9400" y="1965960"/>
            <a:ext cx="4983480" cy="285292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5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381000"/>
            <a:ext cx="32653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4D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W02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04299" y="381000"/>
            <a:ext cx="518109" cy="171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AAB3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影像模組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31750" y="781050"/>
            <a:ext cx="8446109" cy="298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2"/>
              </a:lnSpc>
              <a:spcAft>
                <a:spcPts val="1400"/>
              </a:spcAft>
              <a:buNone/>
            </a:pPr>
            <a:r>
              <a:rPr lang="en-US" sz="21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本週學習地圖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31750" y="1257449"/>
            <a:ext cx="2658517" cy="1054298"/>
          </a:xfrm>
          <a:prstGeom prst="roundRect">
            <a:avLst>
              <a:gd name="adj" fmla="val 12046"/>
            </a:avLst>
          </a:prstGeom>
          <a:solidFill>
            <a:srgbClr val="1A202B"/>
          </a:solidFill>
          <a:ln w="9525">
            <a:solidFill>
              <a:srgbClr val="24D7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18976" y="1444675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24D7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41611" y="1511052"/>
            <a:ext cx="112335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b="1" dirty="0">
                <a:solidFill>
                  <a:srgbClr val="101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18976" y="1901726"/>
            <a:ext cx="2329747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讀取尺寸、模式、格式與像素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242667" y="1257449"/>
            <a:ext cx="2658517" cy="1054298"/>
          </a:xfrm>
          <a:prstGeom prst="roundRect">
            <a:avLst>
              <a:gd name="adj" fmla="val 12046"/>
            </a:avLst>
          </a:prstGeom>
          <a:solidFill>
            <a:srgbClr val="1A202B"/>
          </a:solidFill>
          <a:ln w="9525">
            <a:solidFill>
              <a:srgbClr val="24D7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429893" y="1444675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24D7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552527" y="1511052"/>
            <a:ext cx="112335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b="1" dirty="0">
                <a:solidFill>
                  <a:srgbClr val="101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429893" y="1901726"/>
            <a:ext cx="2329747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解釋 RGB／RGBA 與色彩深度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053584" y="1257449"/>
            <a:ext cx="2658666" cy="1054298"/>
          </a:xfrm>
          <a:prstGeom prst="roundRect">
            <a:avLst>
              <a:gd name="adj" fmla="val 12046"/>
            </a:avLst>
          </a:prstGeom>
          <a:solidFill>
            <a:srgbClr val="1A202B"/>
          </a:solidFill>
          <a:ln w="9525">
            <a:solidFill>
              <a:srgbClr val="24D7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240810" y="1444675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24D7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363444" y="1511052"/>
            <a:ext cx="112335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b="1" dirty="0">
                <a:solidFill>
                  <a:srgbClr val="101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40810" y="1901726"/>
            <a:ext cx="2329898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比較 PNG 與多組 JPEG 品質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31750" y="2540347"/>
            <a:ext cx="8280499" cy="2349401"/>
          </a:xfrm>
          <a:prstGeom prst="roundRect">
            <a:avLst>
              <a:gd name="adj" fmla="val 6487"/>
            </a:avLst>
          </a:prstGeom>
          <a:noFill/>
          <a:ln w="9525">
            <a:solidFill>
              <a:srgbClr val="30394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31750" y="4816525"/>
            <a:ext cx="83158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973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多媒體系統 115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7889379" y="4816525"/>
            <a:ext cx="83932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973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W02 · 影像模組</a:t>
            </a:r>
            <a:endParaRPr lang="en-US" sz="800" dirty="0"/>
          </a:p>
        </p:txBody>
      </p:sp>
      <p:pic>
        <p:nvPicPr>
          <p:cNvPr id="20" name="Image 0" descr="G:\我的雲端硬碟\AI\MS整合\course-115\assets\diagrams\pixel-rg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21024" y="3675888"/>
            <a:ext cx="4983480" cy="285292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5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381000"/>
            <a:ext cx="32653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4D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W02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04299" y="381000"/>
            <a:ext cx="518109" cy="171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AAB3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影像模組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31750" y="781050"/>
            <a:ext cx="8446109" cy="298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2"/>
              </a:lnSpc>
              <a:spcAft>
                <a:spcPts val="1400"/>
              </a:spcAft>
              <a:buNone/>
            </a:pPr>
            <a:r>
              <a:rPr lang="en-US" sz="21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核心原理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31750" y="1257449"/>
            <a:ext cx="4025950" cy="898773"/>
          </a:xfrm>
          <a:prstGeom prst="roundRect">
            <a:avLst>
              <a:gd name="adj" fmla="val 14130"/>
            </a:avLst>
          </a:prstGeom>
          <a:solidFill>
            <a:srgbClr val="1A202B"/>
          </a:solidFill>
          <a:ln w="9525">
            <a:solidFill>
              <a:srgbClr val="313A4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18976" y="1444675"/>
            <a:ext cx="372452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24D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18976" y="1746200"/>
            <a:ext cx="3724528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解析度是像素數，不等於整體畫質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31750" y="2283172"/>
            <a:ext cx="4025950" cy="898773"/>
          </a:xfrm>
          <a:prstGeom prst="roundRect">
            <a:avLst>
              <a:gd name="adj" fmla="val 14130"/>
            </a:avLst>
          </a:prstGeom>
          <a:solidFill>
            <a:srgbClr val="1A202B"/>
          </a:solidFill>
          <a:ln w="9525">
            <a:solidFill>
              <a:srgbClr val="313A4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18976" y="2470398"/>
            <a:ext cx="372452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24D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18976" y="2771924"/>
            <a:ext cx="3724528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未壓縮量＝寬×高×通道×位元÷8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31750" y="3308896"/>
            <a:ext cx="4025950" cy="898773"/>
          </a:xfrm>
          <a:prstGeom prst="roundRect">
            <a:avLst>
              <a:gd name="adj" fmla="val 14130"/>
            </a:avLst>
          </a:prstGeom>
          <a:solidFill>
            <a:srgbClr val="1A202B"/>
          </a:solidFill>
          <a:ln w="9525">
            <a:solidFill>
              <a:srgbClr val="313A4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18976" y="3496121"/>
            <a:ext cx="372452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24D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18976" y="3797647"/>
            <a:ext cx="3724528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格式選擇要同時看用途、品質、大小與相容性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686300" y="1257449"/>
            <a:ext cx="410646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24D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關鍵詞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686300" y="1587550"/>
            <a:ext cx="590699" cy="288727"/>
          </a:xfrm>
          <a:prstGeom prst="roundRect">
            <a:avLst>
              <a:gd name="adj" fmla="val 87972"/>
            </a:avLst>
          </a:prstGeom>
          <a:solidFill>
            <a:srgbClr val="151B24"/>
          </a:solidFill>
          <a:ln w="9525">
            <a:solidFill>
              <a:srgbClr val="24D7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810125" y="1660475"/>
            <a:ext cx="34991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4D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pixel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365849" y="1587550"/>
            <a:ext cx="851743" cy="288727"/>
          </a:xfrm>
          <a:prstGeom prst="roundRect">
            <a:avLst>
              <a:gd name="adj" fmla="val 87972"/>
            </a:avLst>
          </a:prstGeom>
          <a:solidFill>
            <a:srgbClr val="151B24"/>
          </a:solidFill>
          <a:ln w="9525">
            <a:solidFill>
              <a:srgbClr val="24D7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489674" y="1660475"/>
            <a:ext cx="6161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4D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RGB／RGBA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306443" y="1587550"/>
            <a:ext cx="864989" cy="288727"/>
          </a:xfrm>
          <a:prstGeom prst="roundRect">
            <a:avLst>
              <a:gd name="adj" fmla="val 87972"/>
            </a:avLst>
          </a:prstGeom>
          <a:solidFill>
            <a:srgbClr val="151B24"/>
          </a:solidFill>
          <a:ln w="9525">
            <a:solidFill>
              <a:srgbClr val="24D7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430268" y="1660475"/>
            <a:ext cx="62968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4D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bit depth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260282" y="1587550"/>
            <a:ext cx="1263253" cy="288727"/>
          </a:xfrm>
          <a:prstGeom prst="roundRect">
            <a:avLst>
              <a:gd name="adj" fmla="val 87972"/>
            </a:avLst>
          </a:prstGeom>
          <a:solidFill>
            <a:srgbClr val="151B24"/>
          </a:solidFill>
          <a:ln w="9525">
            <a:solidFill>
              <a:srgbClr val="24D7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7384107" y="1660475"/>
            <a:ext cx="103591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4D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lossy／lossless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686300" y="2104876"/>
            <a:ext cx="4025950" cy="1144339"/>
          </a:xfrm>
          <a:prstGeom prst="roundRect">
            <a:avLst>
              <a:gd name="adj" fmla="val 11098"/>
            </a:avLst>
          </a:prstGeom>
          <a:solidFill>
            <a:srgbClr val="1A202B"/>
          </a:solidFill>
          <a:ln w="9525">
            <a:solidFill>
              <a:srgbClr val="24D7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873526" y="2292102"/>
            <a:ext cx="3724528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AAB3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說明規則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873526" y="2616398"/>
            <a:ext cx="3724528" cy="445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spcBef>
                <a:spcPts val="800"/>
              </a:spcBef>
              <a:buNone/>
            </a:pPr>
            <a:r>
              <a:rPr lang="en-US" sz="13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指出輸入、改變的參數、觀察到的輸出，以及仍不能確定的部分。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31750" y="4816525"/>
            <a:ext cx="83158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973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多媒體系統 115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7889379" y="4816525"/>
            <a:ext cx="83932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973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W02 · 影像模組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5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381000"/>
            <a:ext cx="32653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4D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W02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04299" y="381000"/>
            <a:ext cx="518109" cy="171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AAB3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影像模組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31750" y="781050"/>
            <a:ext cx="8446109" cy="298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2"/>
              </a:lnSpc>
              <a:spcAft>
                <a:spcPts val="1400"/>
              </a:spcAft>
              <a:buNone/>
            </a:pPr>
            <a:r>
              <a:rPr lang="en-US" sz="21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課堂實驗／任務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31750" y="1257449"/>
            <a:ext cx="4025950" cy="1054298"/>
          </a:xfrm>
          <a:prstGeom prst="roundRect">
            <a:avLst>
              <a:gd name="adj" fmla="val 12046"/>
            </a:avLst>
          </a:prstGeom>
          <a:solidFill>
            <a:srgbClr val="1A202B"/>
          </a:solidFill>
          <a:ln w="9525">
            <a:solidFill>
              <a:srgbClr val="313A4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18976" y="1444675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24D7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41611" y="1511052"/>
            <a:ext cx="112335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b="1" dirty="0">
                <a:solidFill>
                  <a:srgbClr val="101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18976" y="1901726"/>
            <a:ext cx="3724528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 Pillow 讀取 input.jpg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686300" y="1257449"/>
            <a:ext cx="4025950" cy="1054298"/>
          </a:xfrm>
          <a:prstGeom prst="roundRect">
            <a:avLst>
              <a:gd name="adj" fmla="val 12046"/>
            </a:avLst>
          </a:prstGeom>
          <a:solidFill>
            <a:srgbClr val="1A202B"/>
          </a:solidFill>
          <a:ln w="9525">
            <a:solidFill>
              <a:srgbClr val="313A4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873526" y="1444675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24D7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996160" y="1511052"/>
            <a:ext cx="112335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b="1" dirty="0">
                <a:solidFill>
                  <a:srgbClr val="101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73526" y="1901726"/>
            <a:ext cx="3724528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輸出 PNG 與 JPEG 95／70／40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31750" y="2540347"/>
            <a:ext cx="4025950" cy="1054298"/>
          </a:xfrm>
          <a:prstGeom prst="roundRect">
            <a:avLst>
              <a:gd name="adj" fmla="val 12046"/>
            </a:avLst>
          </a:prstGeom>
          <a:solidFill>
            <a:srgbClr val="1A202B"/>
          </a:solidFill>
          <a:ln w="9525">
            <a:solidFill>
              <a:srgbClr val="313A4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18976" y="2727573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24D7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741611" y="2793950"/>
            <a:ext cx="112335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b="1" dirty="0">
                <a:solidFill>
                  <a:srgbClr val="101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18976" y="3184624"/>
            <a:ext cx="3724528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記錄檔案大小與可見瑕疵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686300" y="2540347"/>
            <a:ext cx="4025950" cy="1054298"/>
          </a:xfrm>
          <a:prstGeom prst="roundRect">
            <a:avLst>
              <a:gd name="adj" fmla="val 12046"/>
            </a:avLst>
          </a:prstGeom>
          <a:solidFill>
            <a:srgbClr val="1A202B"/>
          </a:solidFill>
          <a:ln w="9525">
            <a:solidFill>
              <a:srgbClr val="313A4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873526" y="2727573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24D7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996160" y="2793950"/>
            <a:ext cx="112335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b="1" dirty="0">
                <a:solidFill>
                  <a:srgbClr val="101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73526" y="3184624"/>
            <a:ext cx="3724528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每次只改一個變因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1750" y="4816525"/>
            <a:ext cx="83158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973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多媒體系統 115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7889379" y="4816525"/>
            <a:ext cx="83932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973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W02 · 影像模組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5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381000"/>
            <a:ext cx="32653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4D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W02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04299" y="381000"/>
            <a:ext cx="518109" cy="171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AAB3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影像模組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31750" y="781050"/>
            <a:ext cx="8446109" cy="298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2"/>
              </a:lnSpc>
              <a:spcAft>
                <a:spcPts val="1400"/>
              </a:spcAft>
              <a:buNone/>
            </a:pPr>
            <a:r>
              <a:rPr lang="en-US" sz="21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同一核心，兩種支架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31750" y="1308348"/>
            <a:ext cx="4038600" cy="1650950"/>
          </a:xfrm>
          <a:prstGeom prst="roundRect">
            <a:avLst>
              <a:gd name="adj" fmla="val 7693"/>
            </a:avLst>
          </a:prstGeom>
          <a:solidFill>
            <a:srgbClr val="1A202B"/>
          </a:solidFill>
          <a:ln w="9525">
            <a:solidFill>
              <a:srgbClr val="24D7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18976" y="1495574"/>
            <a:ext cx="373743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24D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日間引導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18976" y="1746349"/>
            <a:ext cx="3737431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固定輸入與觀察表，回答「最小是否最適合」。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673501" y="1308348"/>
            <a:ext cx="4038749" cy="1650950"/>
          </a:xfrm>
          <a:prstGeom prst="roundRect">
            <a:avLst>
              <a:gd name="adj" fmla="val 7693"/>
            </a:avLst>
          </a:prstGeom>
          <a:solidFill>
            <a:srgbClr val="1A202B"/>
          </a:solidFill>
          <a:ln w="9525">
            <a:solidFill>
              <a:srgbClr val="313A4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860727" y="1495574"/>
            <a:ext cx="373758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24D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進修挑戰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860727" y="1746349"/>
            <a:ext cx="3737583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比較照片與文字截圖，分析內容複雜度。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31750" y="3187898"/>
            <a:ext cx="8280499" cy="908893"/>
          </a:xfrm>
          <a:prstGeom prst="roundRect">
            <a:avLst>
              <a:gd name="adj" fmla="val 13973"/>
            </a:avLst>
          </a:prstGeom>
          <a:solidFill>
            <a:srgbClr val="1A202B"/>
          </a:solidFill>
          <a:ln w="9525">
            <a:solidFill>
              <a:srgbClr val="313A4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18976" y="3375124"/>
            <a:ext cx="8064169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AAB3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共同底線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18976" y="3686770"/>
            <a:ext cx="8064169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spcBef>
                <a:spcPts val="700"/>
              </a:spcBef>
              <a:buNone/>
            </a:pPr>
            <a:r>
              <a:rPr lang="en-US" sz="13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CPU 路徑可完成；AI 生成需記錄；素材需有來源與同意；每位學生都能說明關鍵原理。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31750" y="4816525"/>
            <a:ext cx="83158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973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多媒體系統 115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7889379" y="4816525"/>
            <a:ext cx="83932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973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W02 · 影像模組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5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381000"/>
            <a:ext cx="32653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4D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W02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04299" y="381000"/>
            <a:ext cx="518109" cy="171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AAB3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影像模組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31750" y="781050"/>
            <a:ext cx="8446109" cy="298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2"/>
              </a:lnSpc>
              <a:spcAft>
                <a:spcPts val="1400"/>
              </a:spcAft>
              <a:buNone/>
            </a:pPr>
            <a:r>
              <a:rPr lang="en-US" sz="21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本週完成條件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31750" y="1257449"/>
            <a:ext cx="4025950" cy="1536353"/>
          </a:xfrm>
          <a:prstGeom prst="roundRect">
            <a:avLst>
              <a:gd name="adj" fmla="val 8266"/>
            </a:avLst>
          </a:prstGeom>
          <a:solidFill>
            <a:srgbClr val="1A202B"/>
          </a:solidFill>
          <a:ln w="9525">
            <a:solidFill>
              <a:srgbClr val="24D7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18976" y="1444675"/>
            <a:ext cx="37245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24D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繳交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34777" y="1774775"/>
            <a:ext cx="3435697" cy="7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584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程式與四張輸出</a:t>
            </a:r>
            <a:endParaRPr lang="en-US" sz="1200" dirty="0"/>
          </a:p>
          <a:p>
            <a:pPr algn="l" marL="342900" indent="-342900">
              <a:lnSpc>
                <a:spcPts val="1584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格式比較表</a:t>
            </a:r>
            <a:endParaRPr lang="en-US" sz="1200" dirty="0"/>
          </a:p>
          <a:p>
            <a:pPr algn="l" marL="342900" indent="-342900">
              <a:lnSpc>
                <a:spcPts val="1584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 字結論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686300" y="1257449"/>
            <a:ext cx="4025950" cy="1536353"/>
          </a:xfrm>
          <a:prstGeom prst="roundRect">
            <a:avLst>
              <a:gd name="adj" fmla="val 8266"/>
            </a:avLst>
          </a:prstGeom>
          <a:solidFill>
            <a:srgbClr val="1A202B"/>
          </a:solidFill>
          <a:ln w="9525">
            <a:solidFill>
              <a:srgbClr val="313A4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873526" y="1444675"/>
            <a:ext cx="372452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24D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 Ticket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89327" y="1746200"/>
            <a:ext cx="3435697" cy="7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584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寬高減半剩多少像素？</a:t>
            </a:r>
            <a:endParaRPr lang="en-US" sz="1200" dirty="0"/>
          </a:p>
          <a:p>
            <a:pPr algn="l" marL="342900" indent="-342900">
              <a:lnSpc>
                <a:spcPts val="1584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透明圖為何不選 JPEG？</a:t>
            </a:r>
            <a:endParaRPr lang="en-US" sz="1200" dirty="0"/>
          </a:p>
          <a:p>
            <a:pPr algn="l" marL="342900" indent="-342900">
              <a:lnSpc>
                <a:spcPts val="1584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格式名稱能保證品質嗎？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31750" y="2958852"/>
            <a:ext cx="888950" cy="38100"/>
          </a:xfrm>
          <a:prstGeom prst="rect">
            <a:avLst/>
          </a:prstGeom>
          <a:solidFill>
            <a:srgbClr val="24D7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31750" y="3162002"/>
            <a:ext cx="8446109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AAB3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不要只交成品：留下變因、觀察、判斷與限制，才能把作品變成可學習的系統。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31750" y="4816525"/>
            <a:ext cx="83158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973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多媒體系統 115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7889379" y="4816525"/>
            <a:ext cx="83932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973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W02 · 影像模組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課程教材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W02｜數位影像與像素</dc:title>
  <dc:subject>多媒體系統 115</dc:subject>
  <dc:creator>Willis Max</dc:creator>
  <cp:lastModifiedBy>Willis Max</cp:lastModifiedBy>
  <cp:revision>1</cp:revision>
  <dcterms:created xsi:type="dcterms:W3CDTF">2026-08-10T15:02:23Z</dcterms:created>
  <dcterms:modified xsi:type="dcterms:W3CDTF">2026-08-10T15:02:23Z</dcterms:modified>
</cp:coreProperties>
</file>