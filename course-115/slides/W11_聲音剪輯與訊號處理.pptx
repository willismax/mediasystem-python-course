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11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1462980"/>
            <a:ext cx="3265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B6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401467" y="1462980"/>
            <a:ext cx="518109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聲音模組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31750" y="1863030"/>
            <a:ext cx="354722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spcAft>
                <a:spcPts val="1000"/>
              </a:spcAft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聲音剪輯與訊號處理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31750" y="2439442"/>
            <a:ext cx="888950" cy="38100"/>
          </a:xfrm>
          <a:prstGeom prst="rect">
            <a:avLst/>
          </a:prstGeom>
          <a:solidFill>
            <a:srgbClr val="9B6C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31750" y="2642592"/>
            <a:ext cx="3547220" cy="294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8"/>
              </a:lnSpc>
              <a:buNone/>
            </a:pPr>
            <a:r>
              <a:rPr lang="en-US" sz="1900" dirty="0">
                <a:solidFill>
                  <a:srgbClr val="DFE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剪輯聲音時，實際改變了什麼？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31750" y="3139976"/>
            <a:ext cx="3547220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spcBef>
                <a:spcPts val="1600"/>
              </a:spcBef>
              <a:buNone/>
            </a:pPr>
            <a:r>
              <a:rPr lang="en-US" sz="13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從原理、實驗到可說明的作品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26868" y="603200"/>
            <a:ext cx="4802684" cy="3619500"/>
          </a:xfrm>
          <a:prstGeom prst="roundRect">
            <a:avLst>
              <a:gd name="adj" fmla="val 4561"/>
            </a:avLst>
          </a:prstGeom>
          <a:noFill/>
          <a:ln w="9525">
            <a:solidFill>
              <a:srgbClr val="3039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31750" y="4816525"/>
            <a:ext cx="8315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多媒體系統 115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889379" y="4816525"/>
            <a:ext cx="83932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W11 · 聲音模組</a:t>
            </a:r>
            <a:endParaRPr lang="en-US" sz="800" dirty="0"/>
          </a:p>
        </p:txBody>
      </p:sp>
      <p:pic>
        <p:nvPicPr>
          <p:cNvPr id="11" name="Image 0" descr="G:\我的雲端硬碟\AI\MS整合\course-115\assets\diagrams\audio-edit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1965960"/>
            <a:ext cx="4983480" cy="28529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81000"/>
            <a:ext cx="3265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B6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04299" y="381000"/>
            <a:ext cx="518109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聲音模組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31750" y="781050"/>
            <a:ext cx="8446109" cy="298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2"/>
              </a:lnSpc>
              <a:spcAft>
                <a:spcPts val="1400"/>
              </a:spcAft>
              <a:buNone/>
            </a:pPr>
            <a:r>
              <a:rPr lang="en-US" sz="21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本週學習地圖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31750" y="1257449"/>
            <a:ext cx="2658517" cy="1277094"/>
          </a:xfrm>
          <a:prstGeom prst="roundRect">
            <a:avLst>
              <a:gd name="adj" fmla="val 9944"/>
            </a:avLst>
          </a:prstGeom>
          <a:solidFill>
            <a:srgbClr val="1A202B"/>
          </a:solidFill>
          <a:ln w="9525">
            <a:solidFill>
              <a:srgbClr val="9B6C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18976" y="1444675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9B6C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41611" y="1511052"/>
            <a:ext cx="112335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0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18976" y="1901726"/>
            <a:ext cx="2329747" cy="445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區分裁切、淡化、正規化與壓縮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42667" y="1257449"/>
            <a:ext cx="2658517" cy="1277094"/>
          </a:xfrm>
          <a:prstGeom prst="roundRect">
            <a:avLst>
              <a:gd name="adj" fmla="val 9944"/>
            </a:avLst>
          </a:prstGeom>
          <a:solidFill>
            <a:srgbClr val="1A202B"/>
          </a:solidFill>
          <a:ln w="9525">
            <a:solidFill>
              <a:srgbClr val="9B6C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429893" y="1444675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9B6C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552527" y="1511052"/>
            <a:ext cx="112335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0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29893" y="1901726"/>
            <a:ext cx="2329747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解釋變速與變調不是同一件事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053584" y="1257449"/>
            <a:ext cx="2658666" cy="1277094"/>
          </a:xfrm>
          <a:prstGeom prst="roundRect">
            <a:avLst>
              <a:gd name="adj" fmla="val 9944"/>
            </a:avLst>
          </a:prstGeom>
          <a:solidFill>
            <a:srgbClr val="1A202B"/>
          </a:solidFill>
          <a:ln w="9525">
            <a:solidFill>
              <a:srgbClr val="9B6C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240810" y="1444675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9B6C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363444" y="1511052"/>
            <a:ext cx="112335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0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40810" y="1901726"/>
            <a:ext cx="2329898" cy="445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完成可用於短片的 20–30 秒旁白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31750" y="2763143"/>
            <a:ext cx="8280499" cy="2349401"/>
          </a:xfrm>
          <a:prstGeom prst="roundRect">
            <a:avLst>
              <a:gd name="adj" fmla="val 6487"/>
            </a:avLst>
          </a:prstGeom>
          <a:noFill/>
          <a:ln w="9525">
            <a:solidFill>
              <a:srgbClr val="3039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31750" y="4816525"/>
            <a:ext cx="8315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多媒體系統 115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889379" y="4816525"/>
            <a:ext cx="83932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W11 · 聲音模組</a:t>
            </a:r>
            <a:endParaRPr lang="en-US" sz="800" dirty="0"/>
          </a:p>
        </p:txBody>
      </p:sp>
      <p:pic>
        <p:nvPicPr>
          <p:cNvPr id="20" name="Image 0" descr="G:\我的雲端硬碟\AI\MS整合\course-115\assets\diagrams\audio-edit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21024" y="3675888"/>
            <a:ext cx="4983480" cy="285292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81000"/>
            <a:ext cx="3265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B6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04299" y="381000"/>
            <a:ext cx="518109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聲音模組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31750" y="781050"/>
            <a:ext cx="8446109" cy="298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2"/>
              </a:lnSpc>
              <a:spcAft>
                <a:spcPts val="1400"/>
              </a:spcAft>
              <a:buNone/>
            </a:pPr>
            <a:r>
              <a:rPr lang="en-US" sz="21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核心原理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31750" y="1257449"/>
            <a:ext cx="4025950" cy="898773"/>
          </a:xfrm>
          <a:prstGeom prst="roundRect">
            <a:avLst>
              <a:gd name="adj" fmla="val 14130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18976" y="1444675"/>
            <a:ext cx="37245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9B6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18976" y="1746200"/>
            <a:ext cx="37245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淡入淡出是隨時間變化的增益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1750" y="2283172"/>
            <a:ext cx="4025950" cy="898773"/>
          </a:xfrm>
          <a:prstGeom prst="roundRect">
            <a:avLst>
              <a:gd name="adj" fmla="val 14130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18976" y="2470398"/>
            <a:ext cx="37245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9B6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18976" y="2771924"/>
            <a:ext cx="37245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峰值正規化不等於動態壓縮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1750" y="3308896"/>
            <a:ext cx="4025950" cy="1121569"/>
          </a:xfrm>
          <a:prstGeom prst="roundRect">
            <a:avLst>
              <a:gd name="adj" fmla="val 11323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18976" y="3496121"/>
            <a:ext cx="37245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9B6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8976" y="3797647"/>
            <a:ext cx="3724528" cy="445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極端降噪、time stretch 與 pitch shift 都會產生瑕疵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86300" y="1257449"/>
            <a:ext cx="41064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9B6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關鍵詞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86300" y="1587550"/>
            <a:ext cx="1139428" cy="279202"/>
          </a:xfrm>
          <a:prstGeom prst="roundRect">
            <a:avLst>
              <a:gd name="adj" fmla="val 90974"/>
            </a:avLst>
          </a:prstGeom>
          <a:solidFill>
            <a:srgbClr val="151B24"/>
          </a:solidFill>
          <a:ln w="9525">
            <a:solidFill>
              <a:srgbClr val="9B6C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810125" y="1660475"/>
            <a:ext cx="9096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B6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gain envelope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914579" y="1587550"/>
            <a:ext cx="1139428" cy="279202"/>
          </a:xfrm>
          <a:prstGeom prst="roundRect">
            <a:avLst>
              <a:gd name="adj" fmla="val 90974"/>
            </a:avLst>
          </a:prstGeom>
          <a:solidFill>
            <a:srgbClr val="151B24"/>
          </a:solidFill>
          <a:ln w="9525">
            <a:solidFill>
              <a:srgbClr val="9B6C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038404" y="1660475"/>
            <a:ext cx="9096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B6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normalization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142857" y="1587550"/>
            <a:ext cx="933599" cy="279202"/>
          </a:xfrm>
          <a:prstGeom prst="roundRect">
            <a:avLst>
              <a:gd name="adj" fmla="val 90974"/>
            </a:avLst>
          </a:prstGeom>
          <a:solidFill>
            <a:srgbClr val="151B24"/>
          </a:solidFill>
          <a:ln w="9525">
            <a:solidFill>
              <a:srgbClr val="9B6C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266682" y="1660475"/>
            <a:ext cx="6996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B6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compressor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86300" y="1955602"/>
            <a:ext cx="1139428" cy="279202"/>
          </a:xfrm>
          <a:prstGeom prst="roundRect">
            <a:avLst>
              <a:gd name="adj" fmla="val 90974"/>
            </a:avLst>
          </a:prstGeom>
          <a:solidFill>
            <a:srgbClr val="151B24"/>
          </a:solidFill>
          <a:ln w="9525">
            <a:solidFill>
              <a:srgbClr val="9B6C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810125" y="2028527"/>
            <a:ext cx="9096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B6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vocoder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86300" y="2463403"/>
            <a:ext cx="4025950" cy="1144339"/>
          </a:xfrm>
          <a:prstGeom prst="roundRect">
            <a:avLst>
              <a:gd name="adj" fmla="val 11098"/>
            </a:avLst>
          </a:prstGeom>
          <a:solidFill>
            <a:srgbClr val="1A202B"/>
          </a:solidFill>
          <a:ln w="9525">
            <a:solidFill>
              <a:srgbClr val="9B6C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873526" y="2650629"/>
            <a:ext cx="37245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說明規則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73526" y="2974925"/>
            <a:ext cx="3724528" cy="445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spcBef>
                <a:spcPts val="800"/>
              </a:spcBef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指出輸入、改變的參數、觀察到的輸出，以及仍不能確定的部分。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31750" y="4816525"/>
            <a:ext cx="8315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多媒體系統 115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889379" y="4816525"/>
            <a:ext cx="83932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W11 · 聲音模組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81000"/>
            <a:ext cx="3265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B6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04299" y="381000"/>
            <a:ext cx="518109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聲音模組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31750" y="781050"/>
            <a:ext cx="8446109" cy="298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2"/>
              </a:lnSpc>
              <a:spcAft>
                <a:spcPts val="1400"/>
              </a:spcAft>
              <a:buNone/>
            </a:pPr>
            <a:r>
              <a:rPr lang="en-US" sz="21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課堂實驗／任務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31750" y="1257449"/>
            <a:ext cx="4025950" cy="1054298"/>
          </a:xfrm>
          <a:prstGeom prst="roundRect">
            <a:avLst>
              <a:gd name="adj" fmla="val 12046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18976" y="1444675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9B6C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41611" y="1511052"/>
            <a:ext cx="112335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0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18976" y="1901726"/>
            <a:ext cx="37245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備份原音再裁切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86300" y="1257449"/>
            <a:ext cx="4025950" cy="1054298"/>
          </a:xfrm>
          <a:prstGeom prst="roundRect">
            <a:avLst>
              <a:gd name="adj" fmla="val 12046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873526" y="1444675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9B6C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996160" y="1511052"/>
            <a:ext cx="112335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0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73526" y="1901726"/>
            <a:ext cx="37245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套用淡入淡出與峰值檢查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1750" y="2540347"/>
            <a:ext cx="4025950" cy="1054298"/>
          </a:xfrm>
          <a:prstGeom prst="roundRect">
            <a:avLst>
              <a:gd name="adj" fmla="val 12046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18976" y="2727573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9B6C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41611" y="2793950"/>
            <a:ext cx="112335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0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8976" y="3184624"/>
            <a:ext cx="37245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做一次變速或變調 A／B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86300" y="2540347"/>
            <a:ext cx="4025950" cy="1054298"/>
          </a:xfrm>
          <a:prstGeom prst="roundRect">
            <a:avLst>
              <a:gd name="adj" fmla="val 12046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873526" y="2727573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9B6C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996160" y="2793950"/>
            <a:ext cx="112335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0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73526" y="3184624"/>
            <a:ext cx="37245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以耳機與喇叭複查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1750" y="4816525"/>
            <a:ext cx="8315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多媒體系統 115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889379" y="4816525"/>
            <a:ext cx="83932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W11 · 聲音模組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81000"/>
            <a:ext cx="3265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B6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04299" y="381000"/>
            <a:ext cx="518109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聲音模組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31750" y="781050"/>
            <a:ext cx="8446109" cy="298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2"/>
              </a:lnSpc>
              <a:spcAft>
                <a:spcPts val="1400"/>
              </a:spcAft>
              <a:buNone/>
            </a:pPr>
            <a:r>
              <a:rPr lang="en-US" sz="21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同一核心，兩種支架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31750" y="1308348"/>
            <a:ext cx="4038600" cy="1650950"/>
          </a:xfrm>
          <a:prstGeom prst="roundRect">
            <a:avLst>
              <a:gd name="adj" fmla="val 7693"/>
            </a:avLst>
          </a:prstGeom>
          <a:solidFill>
            <a:srgbClr val="1A202B"/>
          </a:solidFill>
          <a:ln w="9525">
            <a:solidFill>
              <a:srgbClr val="9B6C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18976" y="1495574"/>
            <a:ext cx="373743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9B6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日間引導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18976" y="1746349"/>
            <a:ext cx="3737431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固定旁白完成三項基本處理。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673501" y="1308348"/>
            <a:ext cx="4038749" cy="1650950"/>
          </a:xfrm>
          <a:prstGeom prst="roundRect">
            <a:avLst>
              <a:gd name="adj" fmla="val 7693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60727" y="1495574"/>
            <a:ext cx="373758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9B6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進修挑戰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60727" y="1746349"/>
            <a:ext cx="3737583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建立批次腳本與參數停止條件。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1750" y="3187898"/>
            <a:ext cx="8280499" cy="908893"/>
          </a:xfrm>
          <a:prstGeom prst="roundRect">
            <a:avLst>
              <a:gd name="adj" fmla="val 13973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18976" y="3375124"/>
            <a:ext cx="8064169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共同底線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8976" y="3686770"/>
            <a:ext cx="8064169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spcBef>
                <a:spcPts val="700"/>
              </a:spcBef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路徑可完成；AI 生成需記錄；素材需有來源與同意；每位學生都能說明關鍵原理。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31750" y="4816525"/>
            <a:ext cx="8315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多媒體系統 115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889379" y="4816525"/>
            <a:ext cx="83932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W11 · 聲音模組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81000"/>
            <a:ext cx="3265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B6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04299" y="381000"/>
            <a:ext cx="518109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聲音模組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31750" y="781050"/>
            <a:ext cx="8446109" cy="298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2"/>
              </a:lnSpc>
              <a:spcAft>
                <a:spcPts val="1400"/>
              </a:spcAft>
              <a:buNone/>
            </a:pPr>
            <a:r>
              <a:rPr lang="en-US" sz="21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本週完成條件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31750" y="1257449"/>
            <a:ext cx="4025950" cy="1536353"/>
          </a:xfrm>
          <a:prstGeom prst="roundRect">
            <a:avLst>
              <a:gd name="adj" fmla="val 8266"/>
            </a:avLst>
          </a:prstGeom>
          <a:solidFill>
            <a:srgbClr val="1A202B"/>
          </a:solidFill>
          <a:ln w="9525">
            <a:solidFill>
              <a:srgbClr val="9B6C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18976" y="1444675"/>
            <a:ext cx="3724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9B6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繳交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34777" y="1774775"/>
            <a:ext cx="3435697" cy="7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584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原音／成品對照</a:t>
            </a:r>
            <a:endParaRPr lang="en-US" sz="1200" dirty="0"/>
          </a:p>
          <a:p>
            <a:pPr algn="l" marL="342900" indent="-342900">
              <a:lnSpc>
                <a:spcPts val="1584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參數與瑕疵紀錄</a:t>
            </a:r>
            <a:endParaRPr lang="en-US" sz="1200" dirty="0"/>
          </a:p>
          <a:p>
            <a:pPr algn="l" marL="342900" indent="-342900">
              <a:lnSpc>
                <a:spcPts val="1584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旁白檔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686300" y="1257449"/>
            <a:ext cx="4025950" cy="1536353"/>
          </a:xfrm>
          <a:prstGeom prst="roundRect">
            <a:avLst>
              <a:gd name="adj" fmla="val 8266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73526" y="1444675"/>
            <a:ext cx="37245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9B6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89327" y="1746200"/>
            <a:ext cx="3435697" cy="7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584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正規化與壓縮差在哪裡？</a:t>
            </a:r>
            <a:endParaRPr lang="en-US" sz="1200" dirty="0"/>
          </a:p>
          <a:p>
            <a:pPr algn="l" marL="342900" indent="-342900">
              <a:lnSpc>
                <a:spcPts val="1584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加快為何會升音？</a:t>
            </a:r>
            <a:endParaRPr lang="en-US" sz="1200" dirty="0"/>
          </a:p>
          <a:p>
            <a:pPr algn="l" marL="342900" indent="-342900">
              <a:lnSpc>
                <a:spcPts val="1584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哪些問題應重錄？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1750" y="2958852"/>
            <a:ext cx="888950" cy="38100"/>
          </a:xfrm>
          <a:prstGeom prst="rect">
            <a:avLst/>
          </a:prstGeom>
          <a:solidFill>
            <a:srgbClr val="9B6C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31750" y="3162002"/>
            <a:ext cx="8446109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不要只交成品：留下變因、觀察、判斷與限制，才能把作品變成可學習的系統。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1750" y="4816525"/>
            <a:ext cx="8315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多媒體系統 115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889379" y="4816525"/>
            <a:ext cx="83932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W11 · 聲音模組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課程教材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W11｜聲音剪輯與訊號處理</dc:title>
  <dc:subject>多媒體系統 115</dc:subject>
  <dc:creator>Willis Max</dc:creator>
  <cp:lastModifiedBy>Willis Max</cp:lastModifiedBy>
  <cp:revision>1</cp:revision>
  <dcterms:created xsi:type="dcterms:W3CDTF">2026-08-10T15:03:01Z</dcterms:created>
  <dcterms:modified xsi:type="dcterms:W3CDTF">2026-08-10T15:03:01Z</dcterms:modified>
</cp:coreProperties>
</file>