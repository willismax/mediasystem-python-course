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12573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401467" y="12573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影片模組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1657350"/>
            <a:ext cx="3547220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FFmpeg 與短影音合成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31750" y="2645122"/>
            <a:ext cx="888950" cy="38100"/>
          </a:xfrm>
          <a:prstGeom prst="rect">
            <a:avLst/>
          </a:prstGeom>
          <a:solidFill>
            <a:srgbClr val="FF9F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1750" y="2848273"/>
            <a:ext cx="3547220" cy="294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8"/>
              </a:lnSpc>
              <a:buNone/>
            </a:pPr>
            <a:r>
              <a:rPr lang="en-US" sz="1900" dirty="0">
                <a:solidFill>
                  <a:srgbClr val="DF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影片如何被合成與壓縮？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31750" y="3345656"/>
            <a:ext cx="3547220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1600"/>
              </a:spcBef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從原理、實驗到可說明的作品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26868" y="603200"/>
            <a:ext cx="4802684" cy="3619500"/>
          </a:xfrm>
          <a:prstGeom prst="roundRect">
            <a:avLst>
              <a:gd name="adj" fmla="val 4561"/>
            </a:avLst>
          </a:prstGeom>
          <a:noFill/>
          <a:ln w="9525">
            <a:solidFill>
              <a:srgbClr val="3039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W15 · 影片模組</a:t>
            </a:r>
            <a:endParaRPr lang="en-US" sz="800" dirty="0"/>
          </a:p>
        </p:txBody>
      </p:sp>
      <p:pic>
        <p:nvPicPr>
          <p:cNvPr id="11" name="Image 0" descr="G:\我的雲端硬碟\AI\MS整合\course-115\assets\diagrams\video-codec-g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965960"/>
            <a:ext cx="49834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影片模組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本週學習地圖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2658517" cy="1277094"/>
          </a:xfrm>
          <a:prstGeom prst="roundRect">
            <a:avLst>
              <a:gd name="adj" fmla="val 9944"/>
            </a:avLst>
          </a:prstGeom>
          <a:solidFill>
            <a:srgbClr val="1A202B"/>
          </a:solidFill>
          <a:ln w="9525">
            <a:solidFill>
              <a:srgbClr val="FF9F4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9F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611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976" y="1901726"/>
            <a:ext cx="2329747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分辨 container 與 codec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42667" y="1257449"/>
            <a:ext cx="2658517" cy="1277094"/>
          </a:xfrm>
          <a:prstGeom prst="roundRect">
            <a:avLst>
              <a:gd name="adj" fmla="val 9944"/>
            </a:avLst>
          </a:prstGeom>
          <a:solidFill>
            <a:srgbClr val="1A202B"/>
          </a:solidFill>
          <a:ln w="9525">
            <a:solidFill>
              <a:srgbClr val="FF9F4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29893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9F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52527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893" y="1901726"/>
            <a:ext cx="2329747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 I／P／B frame、GOP 與 bitrate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53584" y="1257449"/>
            <a:ext cx="2658666" cy="1277094"/>
          </a:xfrm>
          <a:prstGeom prst="roundRect">
            <a:avLst>
              <a:gd name="adj" fmla="val 9944"/>
            </a:avLst>
          </a:prstGeom>
          <a:solidFill>
            <a:srgbClr val="1A202B"/>
          </a:solidFill>
          <a:ln w="9525">
            <a:solidFill>
              <a:srgbClr val="FF9F4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40810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9F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63444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40810" y="1901726"/>
            <a:ext cx="232989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輸出 720×1280 MP4 粗剪版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1750" y="2763143"/>
            <a:ext cx="8280499" cy="2349401"/>
          </a:xfrm>
          <a:prstGeom prst="roundRect">
            <a:avLst>
              <a:gd name="adj" fmla="val 6487"/>
            </a:avLst>
          </a:prstGeom>
          <a:noFill/>
          <a:ln w="9525">
            <a:solidFill>
              <a:srgbClr val="3039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W15 · 影片模組</a:t>
            </a:r>
            <a:endParaRPr lang="en-US" sz="800" dirty="0"/>
          </a:p>
        </p:txBody>
      </p:sp>
      <p:pic>
        <p:nvPicPr>
          <p:cNvPr id="20" name="Image 0" descr="G:\我的雲端硬碟\AI\MS整合\course-115\assets\diagrams\video-codec-g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1024" y="3675888"/>
            <a:ext cx="49834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影片模組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核心原理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8976" y="1746200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MP4 是容器，H.264 是視訊編碼方式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1750" y="2283172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8976" y="2470398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8976" y="27719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編碼利用影格內與影格間冗餘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3308896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3496121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8976" y="3797647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關鍵影格密度、bitrate、內容動態與品質互相牽動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86300" y="1257449"/>
            <a:ext cx="41064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關鍵詞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86300" y="1587550"/>
            <a:ext cx="864989" cy="288727"/>
          </a:xfrm>
          <a:prstGeom prst="roundRect">
            <a:avLst>
              <a:gd name="adj" fmla="val 87972"/>
            </a:avLst>
          </a:prstGeom>
          <a:solidFill>
            <a:srgbClr val="151B24"/>
          </a:solidFill>
          <a:ln w="9525">
            <a:solidFill>
              <a:srgbClr val="FF9F4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10125" y="1660475"/>
            <a:ext cx="6296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40139" y="1587550"/>
            <a:ext cx="590699" cy="288727"/>
          </a:xfrm>
          <a:prstGeom prst="roundRect">
            <a:avLst>
              <a:gd name="adj" fmla="val 87972"/>
            </a:avLst>
          </a:prstGeom>
          <a:solidFill>
            <a:srgbClr val="151B24"/>
          </a:solidFill>
          <a:ln w="9525">
            <a:solidFill>
              <a:srgbClr val="FF9F4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763964" y="1660475"/>
            <a:ext cx="3499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19689" y="1587550"/>
            <a:ext cx="1126034" cy="288727"/>
          </a:xfrm>
          <a:prstGeom prst="roundRect">
            <a:avLst>
              <a:gd name="adj" fmla="val 87972"/>
            </a:avLst>
          </a:prstGeom>
          <a:solidFill>
            <a:srgbClr val="151B24"/>
          </a:solidFill>
          <a:ln w="9525">
            <a:solidFill>
              <a:srgbClr val="FF9F4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43514" y="1660475"/>
            <a:ext cx="8959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keyframe／GOP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534573" y="1587550"/>
            <a:ext cx="1057424" cy="288727"/>
          </a:xfrm>
          <a:prstGeom prst="roundRect">
            <a:avLst>
              <a:gd name="adj" fmla="val 87972"/>
            </a:avLst>
          </a:prstGeom>
          <a:solidFill>
            <a:srgbClr val="151B24"/>
          </a:solidFill>
          <a:ln w="9525">
            <a:solidFill>
              <a:srgbClr val="FF9F4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658398" y="1660475"/>
            <a:ext cx="8259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CRF／bitrate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86300" y="2104876"/>
            <a:ext cx="4025950" cy="1144339"/>
          </a:xfrm>
          <a:prstGeom prst="roundRect">
            <a:avLst>
              <a:gd name="adj" fmla="val 11098"/>
            </a:avLst>
          </a:prstGeom>
          <a:solidFill>
            <a:srgbClr val="1A202B"/>
          </a:solidFill>
          <a:ln w="9525">
            <a:solidFill>
              <a:srgbClr val="FF9F4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73526" y="2292102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說明規則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73526" y="2616398"/>
            <a:ext cx="3724528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指出輸入、改變的參數、觀察到的輸出，以及仍不能確定的部分。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W15 · 影片模組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影片模組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課堂實驗／任務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9F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611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976" y="1901726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ffprobe 讀取 streams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86300" y="1257449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7352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9F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96160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526" y="1901726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維持比例縮放並補邊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2540347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8976" y="27275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9F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1611" y="2793950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8976" y="31846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合成圖片、旁白與字幕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86300" y="2540347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73526" y="27275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FF9F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96160" y="2793950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526" y="31846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換兩個 CRF 比較大小與瑕疵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W15 · 影片模組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影片模組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同一核心，兩種支架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308348"/>
            <a:ext cx="4038600" cy="1650950"/>
          </a:xfrm>
          <a:prstGeom prst="roundRect">
            <a:avLst>
              <a:gd name="adj" fmla="val 7693"/>
            </a:avLst>
          </a:prstGeom>
          <a:solidFill>
            <a:srgbClr val="1A202B"/>
          </a:solidFill>
          <a:ln w="9525">
            <a:solidFill>
              <a:srgbClr val="FF9F4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95574"/>
            <a:ext cx="37374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日間引導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8976" y="1746349"/>
            <a:ext cx="3737431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固定四張圖與旁白完成組裝。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73501" y="1308348"/>
            <a:ext cx="4038749" cy="1650950"/>
          </a:xfrm>
          <a:prstGeom prst="roundRect">
            <a:avLst>
              <a:gd name="adj" fmla="val 7693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60727" y="1495574"/>
            <a:ext cx="37375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進修挑戰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60727" y="1746349"/>
            <a:ext cx="3737583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依自選分鏡建立可重跑腳本與 CPU 降級路徑。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3187898"/>
            <a:ext cx="8280499" cy="908893"/>
          </a:xfrm>
          <a:prstGeom prst="roundRect">
            <a:avLst>
              <a:gd name="adj" fmla="val 13973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3375124"/>
            <a:ext cx="806416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共同底線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8976" y="3686770"/>
            <a:ext cx="806416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700"/>
              </a:spcBef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路徑可完成；AI 生成需記錄；素材需有來源與同意；每位學生都能說明關鍵原理。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W15 · 影片模組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F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04299" y="381000"/>
            <a:ext cx="51810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影片模組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本週完成條件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1536353"/>
          </a:xfrm>
          <a:prstGeom prst="roundRect">
            <a:avLst>
              <a:gd name="adj" fmla="val 8266"/>
            </a:avLst>
          </a:prstGeom>
          <a:solidFill>
            <a:srgbClr val="1A202B"/>
          </a:solidFill>
          <a:ln w="9525">
            <a:solidFill>
              <a:srgbClr val="FF9F4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724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繳交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4777" y="1774775"/>
            <a:ext cx="3435697" cy="7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720×1280 rough cut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ffprobe 紀錄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兩組壓縮比較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86300" y="1257449"/>
            <a:ext cx="4025950" cy="1536353"/>
          </a:xfrm>
          <a:prstGeom prst="roundRect">
            <a:avLst>
              <a:gd name="adj" fmla="val 826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3526" y="1444675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9F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89327" y="1746200"/>
            <a:ext cx="3435697" cy="7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MP4 與 H.264 能互換嗎？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關鍵影格越多越好嗎？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為何不可直接拉伸？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750" y="2958852"/>
            <a:ext cx="888950" cy="38100"/>
          </a:xfrm>
          <a:prstGeom prst="rect">
            <a:avLst/>
          </a:prstGeom>
          <a:solidFill>
            <a:srgbClr val="FF9F4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1750" y="3162002"/>
            <a:ext cx="844610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不要只交成品：留下變因、觀察、判斷與限制，才能把作品變成可學習的系統。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889379" y="4816525"/>
            <a:ext cx="8393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W15 · 影片模組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課程教材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W15｜FFmpeg 與短影音合成</dc:title>
  <dc:subject>多媒體系統 115</dc:subject>
  <dc:creator>Willis Max</dc:creator>
  <cp:lastModifiedBy>Willis Max</cp:lastModifiedBy>
  <cp:revision>1</cp:revision>
  <dcterms:created xsi:type="dcterms:W3CDTF">2026-08-10T15:03:19Z</dcterms:created>
  <dcterms:modified xsi:type="dcterms:W3CDTF">2026-08-10T15:03:19Z</dcterms:modified>
</cp:coreProperties>
</file>